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0" r:id="rId1"/>
  </p:sldMasterIdLst>
  <p:notesMasterIdLst>
    <p:notesMasterId r:id="rId2"/>
  </p:notesMasterIdLst>
  <p:sldIdLst>
    <p:sldId id="269" r:id="rId3"/>
    <p:sldId id="270" r:id="rId4"/>
    <p:sldId id="271" r:id="rId5"/>
    <p:sldId id="298" r:id="rId6"/>
    <p:sldId id="272" r:id="rId7"/>
    <p:sldId id="295" r:id="rId8"/>
    <p:sldId id="273" r:id="rId9"/>
    <p:sldId id="285" r:id="rId10"/>
    <p:sldId id="274" r:id="rId11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2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2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C"/>
        </a:solidFill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6583680" y="-914400"/>
            <a:ext cx="4572000" cy="4572000"/>
          </a:xfrm>
          <a:prstGeom prst="ellipse"/>
          <a:solidFill>
            <a:srgbClr val="1A6EA8">
              <a:alpha val="20000"/>
            </a:srgbClr>
          </a:solidFill>
          <a:ln w="12700">
            <a:solidFill>
              <a:srgbClr val="1A6EA8">
                <a:alpha val="20000"/>
              </a:srgbClr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-1371600" y="3200400"/>
            <a:ext cx="3657600" cy="3657600"/>
          </a:xfrm>
          <a:prstGeom prst="ellipse"/>
          <a:solidFill>
            <a:srgbClr val="00B4A6">
              <a:alpha val="18000"/>
            </a:srgbClr>
          </a:solidFill>
          <a:ln w="12700">
            <a:solidFill>
              <a:srgbClr val="00B4A6">
                <a:alpha val="18000"/>
              </a:srgbClr>
            </a:solidFill>
            <a:prstDash val="solid"/>
          </a:ln>
        </p:spPr>
      </p:sp>
      <p:sp>
        <p:nvSpPr>
          <p:cNvPr id="1048578" name="Text 2"/>
          <p:cNvSpPr/>
          <p:nvPr/>
        </p:nvSpPr>
        <p:spPr>
          <a:xfrm>
            <a:off x="457200" y="320040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BUSHRA</a:t>
            </a:r>
            <a:endParaRPr dirty="0" sz="1000" lang="en-US"/>
          </a:p>
        </p:txBody>
      </p:sp>
      <p:sp>
        <p:nvSpPr>
          <p:cNvPr id="1048579" name="Text 3"/>
          <p:cNvSpPr/>
          <p:nvPr/>
        </p:nvSpPr>
        <p:spPr>
          <a:xfrm>
            <a:off x="457200" y="777240"/>
            <a:ext cx="841248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Audio PCB Design</a:t>
            </a:r>
            <a:endParaRPr dirty="0" sz="4600" lang="en-US"/>
          </a:p>
        </p:txBody>
      </p:sp>
      <p:sp>
        <p:nvSpPr>
          <p:cNvPr id="1048580" name="Text 4"/>
          <p:cNvSpPr/>
          <p:nvPr/>
        </p:nvSpPr>
        <p:spPr>
          <a:xfrm>
            <a:off x="457200" y="1664208"/>
            <a:ext cx="8229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34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Altium Designer</a:t>
            </a:r>
            <a:endParaRPr dirty="0" sz="3400" lang="en-US"/>
          </a:p>
        </p:txBody>
      </p:sp>
      <p:sp>
        <p:nvSpPr>
          <p:cNvPr id="1048581" name="Text 5"/>
          <p:cNvSpPr/>
          <p:nvPr/>
        </p:nvSpPr>
        <p:spPr>
          <a:xfrm>
            <a:off x="457200" y="2514600"/>
            <a:ext cx="804672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PCB Design Workflow  |  Schematic → Layout → 3D View → DRC → Gerber Export</a:t>
            </a:r>
            <a:endParaRPr dirty="0" sz="1300" lang="en-US"/>
          </a:p>
        </p:txBody>
      </p:sp>
      <p:sp>
        <p:nvSpPr>
          <p:cNvPr id="1048582" name="Shape 6"/>
          <p:cNvSpPr/>
          <p:nvPr/>
        </p:nvSpPr>
        <p:spPr>
          <a:xfrm>
            <a:off x="365760" y="324612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1B3A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48583" name="Text 7"/>
          <p:cNvSpPr/>
          <p:nvPr/>
        </p:nvSpPr>
        <p:spPr>
          <a:xfrm>
            <a:off x="384048" y="3273552"/>
            <a:ext cx="1975104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Design</a:t>
            </a:r>
            <a:endParaRPr dirty="0" sz="1100" lang="en-US"/>
          </a:p>
        </p:txBody>
      </p:sp>
      <p:sp>
        <p:nvSpPr>
          <p:cNvPr id="1048584" name="Shape 8"/>
          <p:cNvSpPr/>
          <p:nvPr/>
        </p:nvSpPr>
        <p:spPr>
          <a:xfrm>
            <a:off x="2514600" y="324612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1B3A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48585" name="Text 9"/>
          <p:cNvSpPr/>
          <p:nvPr/>
        </p:nvSpPr>
        <p:spPr>
          <a:xfrm>
            <a:off x="2532888" y="3273552"/>
            <a:ext cx="1975104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</a:t>
            </a:r>
            <a:endParaRPr dirty="0" sz="1100" lang="en-US"/>
          </a:p>
        </p:txBody>
      </p:sp>
      <p:sp>
        <p:nvSpPr>
          <p:cNvPr id="1048586" name="Shape 10"/>
          <p:cNvSpPr/>
          <p:nvPr/>
        </p:nvSpPr>
        <p:spPr>
          <a:xfrm>
            <a:off x="4663440" y="324612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1B3A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48587" name="Text 11"/>
          <p:cNvSpPr/>
          <p:nvPr/>
        </p:nvSpPr>
        <p:spPr>
          <a:xfrm>
            <a:off x="4681728" y="3273552"/>
            <a:ext cx="1975104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</a:t>
            </a:r>
            <a:endParaRPr dirty="0" sz="1100" lang="en-US"/>
          </a:p>
        </p:txBody>
      </p:sp>
      <p:sp>
        <p:nvSpPr>
          <p:cNvPr id="1048588" name="Shape 12"/>
          <p:cNvSpPr/>
          <p:nvPr/>
        </p:nvSpPr>
        <p:spPr>
          <a:xfrm>
            <a:off x="6812280" y="324612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1B3A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48589" name="Text 13"/>
          <p:cNvSpPr/>
          <p:nvPr/>
        </p:nvSpPr>
        <p:spPr>
          <a:xfrm>
            <a:off x="6830568" y="3273552"/>
            <a:ext cx="1975104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&amp; Gerber Output</a:t>
            </a:r>
            <a:endParaRPr dirty="0" sz="1100" lang="en-US"/>
          </a:p>
        </p:txBody>
      </p:sp>
      <p:sp>
        <p:nvSpPr>
          <p:cNvPr id="1048590" name="Shape 14"/>
          <p:cNvSpPr/>
          <p:nvPr/>
        </p:nvSpPr>
        <p:spPr>
          <a:xfrm>
            <a:off x="0" y="4480560"/>
            <a:ext cx="9144000" cy="662940"/>
          </a:xfrm>
          <a:prstGeom prst="rect"/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48591" name="Text 15"/>
          <p:cNvSpPr/>
          <p:nvPr/>
        </p:nvSpPr>
        <p:spPr>
          <a:xfrm>
            <a:off x="274320" y="4526280"/>
            <a:ext cx="859536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23.9.1   |   Digital Audio PCB Project   |</a:t>
            </a:r>
            <a:endParaRPr dirty="0" sz="11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hape 0"/>
          <p:cNvSpPr/>
          <p:nvPr/>
        </p:nvSpPr>
        <p:spPr>
          <a:xfrm>
            <a:off x="0" y="0"/>
            <a:ext cx="9144000" cy="749808"/>
          </a:xfrm>
          <a:prstGeom prst="rect"/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48596" name="Text 1"/>
          <p:cNvSpPr/>
          <p:nvPr/>
        </p:nvSpPr>
        <p:spPr>
          <a:xfrm>
            <a:off x="365760" y="91440"/>
            <a:ext cx="8229600" cy="56692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dirty="0" sz="2600" lang="en-US"/>
          </a:p>
        </p:txBody>
      </p:sp>
      <p:sp>
        <p:nvSpPr>
          <p:cNvPr id="1048597" name="Shape 2"/>
          <p:cNvSpPr/>
          <p:nvPr/>
        </p:nvSpPr>
        <p:spPr>
          <a:xfrm>
            <a:off x="228600" y="9144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598" name="Shape 3"/>
          <p:cNvSpPr/>
          <p:nvPr/>
        </p:nvSpPr>
        <p:spPr>
          <a:xfrm>
            <a:off x="228600" y="914400"/>
            <a:ext cx="2743200" cy="438912"/>
          </a:xfrm>
          <a:prstGeom prst="rect"/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48599" name="Text 4"/>
          <p:cNvSpPr/>
          <p:nvPr/>
        </p:nvSpPr>
        <p:spPr>
          <a:xfrm>
            <a:off x="320040" y="987552"/>
            <a:ext cx="25603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dirty="0" sz="1200" lang="en-US"/>
          </a:p>
        </p:txBody>
      </p:sp>
      <p:sp>
        <p:nvSpPr>
          <p:cNvPr id="1048600" name="Text 5"/>
          <p:cNvSpPr/>
          <p:nvPr/>
        </p:nvSpPr>
        <p:spPr>
          <a:xfrm>
            <a:off x="338328" y="1463040"/>
            <a:ext cx="2523744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Audio Amplifier PCB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1.0 — 2-Layer Board</a:t>
            </a:r>
            <a:endParaRPr dirty="0" sz="1200" lang="en-US"/>
          </a:p>
        </p:txBody>
      </p:sp>
      <p:sp>
        <p:nvSpPr>
          <p:cNvPr id="1048601" name="Shape 6"/>
          <p:cNvSpPr/>
          <p:nvPr/>
        </p:nvSpPr>
        <p:spPr>
          <a:xfrm>
            <a:off x="3172968" y="9144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02" name="Shape 7"/>
          <p:cNvSpPr/>
          <p:nvPr/>
        </p:nvSpPr>
        <p:spPr>
          <a:xfrm>
            <a:off x="3172968" y="914400"/>
            <a:ext cx="2743200" cy="438912"/>
          </a:xfrm>
          <a:prstGeom prst="rect"/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48603" name="Text 8"/>
          <p:cNvSpPr/>
          <p:nvPr/>
        </p:nvSpPr>
        <p:spPr>
          <a:xfrm>
            <a:off x="3264408" y="987552"/>
            <a:ext cx="25603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</a:t>
            </a:r>
            <a:endParaRPr dirty="0" sz="1200" lang="en-US"/>
          </a:p>
        </p:txBody>
      </p:sp>
      <p:sp>
        <p:nvSpPr>
          <p:cNvPr id="1048604" name="Text 9"/>
          <p:cNvSpPr/>
          <p:nvPr/>
        </p:nvSpPr>
        <p:spPr>
          <a:xfrm>
            <a:off x="3282696" y="1463040"/>
            <a:ext cx="2523744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TL072 Dual Op-Amp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Low-Noise Audio IC</a:t>
            </a:r>
            <a:endParaRPr dirty="0" sz="1200" lang="en-US"/>
          </a:p>
        </p:txBody>
      </p:sp>
      <p:sp>
        <p:nvSpPr>
          <p:cNvPr id="1048605" name="Shape 10"/>
          <p:cNvSpPr/>
          <p:nvPr/>
        </p:nvSpPr>
        <p:spPr>
          <a:xfrm>
            <a:off x="6117336" y="91440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06" name="Shape 11"/>
          <p:cNvSpPr/>
          <p:nvPr/>
        </p:nvSpPr>
        <p:spPr>
          <a:xfrm>
            <a:off x="6117336" y="914400"/>
            <a:ext cx="2743200" cy="438912"/>
          </a:xfrm>
          <a:prstGeom prst="rect"/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48607" name="Text 12"/>
          <p:cNvSpPr/>
          <p:nvPr/>
        </p:nvSpPr>
        <p:spPr>
          <a:xfrm>
            <a:off x="6208776" y="987552"/>
            <a:ext cx="25603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Specs</a:t>
            </a:r>
            <a:endParaRPr dirty="0" sz="1200" lang="en-US"/>
          </a:p>
        </p:txBody>
      </p:sp>
      <p:sp>
        <p:nvSpPr>
          <p:cNvPr id="1048608" name="Text 13"/>
          <p:cNvSpPr/>
          <p:nvPr/>
        </p:nvSpPr>
        <p:spPr>
          <a:xfrm>
            <a:off x="6227064" y="1463040"/>
            <a:ext cx="2523744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65mm × 45mm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 — 1.6mm thickness</a:t>
            </a:r>
            <a:endParaRPr dirty="0" sz="1200" lang="en-US"/>
          </a:p>
        </p:txBody>
      </p:sp>
      <p:sp>
        <p:nvSpPr>
          <p:cNvPr id="1048609" name="Shape 14"/>
          <p:cNvSpPr/>
          <p:nvPr/>
        </p:nvSpPr>
        <p:spPr>
          <a:xfrm>
            <a:off x="22860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10" name="Shape 15"/>
          <p:cNvSpPr/>
          <p:nvPr/>
        </p:nvSpPr>
        <p:spPr>
          <a:xfrm>
            <a:off x="228600" y="2834640"/>
            <a:ext cx="2743200" cy="438912"/>
          </a:xfrm>
          <a:prstGeom prst="rect"/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48611" name="Text 16"/>
          <p:cNvSpPr/>
          <p:nvPr/>
        </p:nvSpPr>
        <p:spPr>
          <a:xfrm>
            <a:off x="320040" y="2907792"/>
            <a:ext cx="25603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dirty="0" sz="1200" lang="en-US"/>
          </a:p>
        </p:txBody>
      </p:sp>
      <p:sp>
        <p:nvSpPr>
          <p:cNvPr id="1048612" name="Text 17"/>
          <p:cNvSpPr/>
          <p:nvPr/>
        </p:nvSpPr>
        <p:spPr>
          <a:xfrm>
            <a:off x="338328" y="3383280"/>
            <a:ext cx="2523744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Total Parts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 + Through-Hole</a:t>
            </a:r>
            <a:endParaRPr dirty="0" sz="1200" lang="en-US"/>
          </a:p>
        </p:txBody>
      </p:sp>
      <p:sp>
        <p:nvSpPr>
          <p:cNvPr id="1048613" name="Shape 18"/>
          <p:cNvSpPr/>
          <p:nvPr/>
        </p:nvSpPr>
        <p:spPr>
          <a:xfrm>
            <a:off x="3172968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14" name="Shape 19"/>
          <p:cNvSpPr/>
          <p:nvPr/>
        </p:nvSpPr>
        <p:spPr>
          <a:xfrm>
            <a:off x="3172968" y="2834640"/>
            <a:ext cx="2743200" cy="438912"/>
          </a:xfrm>
          <a:prstGeom prst="rect"/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48615" name="Text 20"/>
          <p:cNvSpPr/>
          <p:nvPr/>
        </p:nvSpPr>
        <p:spPr>
          <a:xfrm>
            <a:off x="3264408" y="2907792"/>
            <a:ext cx="25603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dirty="0" sz="1200" lang="en-US"/>
          </a:p>
        </p:txBody>
      </p:sp>
      <p:sp>
        <p:nvSpPr>
          <p:cNvPr id="1048616" name="Text 21"/>
          <p:cNvSpPr/>
          <p:nvPr/>
        </p:nvSpPr>
        <p:spPr>
          <a:xfrm>
            <a:off x="3282696" y="3383280"/>
            <a:ext cx="2523744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+12V / GND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15W Max Power</a:t>
            </a:r>
            <a:endParaRPr dirty="0" sz="1200" lang="en-US"/>
          </a:p>
        </p:txBody>
      </p:sp>
      <p:sp>
        <p:nvSpPr>
          <p:cNvPr id="1048617" name="Shape 22"/>
          <p:cNvSpPr/>
          <p:nvPr/>
        </p:nvSpPr>
        <p:spPr>
          <a:xfrm>
            <a:off x="6117336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algn="bl" blurRad="101600" dir="27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18" name="Shape 23"/>
          <p:cNvSpPr/>
          <p:nvPr/>
        </p:nvSpPr>
        <p:spPr>
          <a:xfrm>
            <a:off x="6117336" y="2834640"/>
            <a:ext cx="2743200" cy="438912"/>
          </a:xfrm>
          <a:prstGeom prst="rect"/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048619" name="Text 24"/>
          <p:cNvSpPr/>
          <p:nvPr/>
        </p:nvSpPr>
        <p:spPr>
          <a:xfrm>
            <a:off x="6208776" y="2907792"/>
            <a:ext cx="25603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dirty="0" sz="1200" lang="en-US"/>
          </a:p>
        </p:txBody>
      </p:sp>
      <p:sp>
        <p:nvSpPr>
          <p:cNvPr id="1048620" name="Text 25"/>
          <p:cNvSpPr/>
          <p:nvPr/>
        </p:nvSpPr>
        <p:spPr>
          <a:xfrm>
            <a:off x="6227064" y="3383280"/>
            <a:ext cx="2523744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Gerber Files Ready</a:t>
            </a:r>
            <a:endParaRPr dirty="0" sz="1200" lang="en-US"/>
          </a:p>
          <a:p>
            <a:pPr algn="ctr" indent="0" marL="0">
              <a:buNone/>
            </a:pPr>
            <a:r>
              <a:rPr dirty="0" sz="1200" lang="en-US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DRC: 0 Errors</a:t>
            </a:r>
            <a:endParaRPr dirty="0" sz="1200" lang="en-US"/>
          </a:p>
        </p:txBody>
      </p:sp>
      <p:sp>
        <p:nvSpPr>
          <p:cNvPr id="1048621" name="Text 26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C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48626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Schematic Design</a:t>
            </a:r>
            <a:endParaRPr dirty="0" sz="2400" lang="en-US"/>
          </a:p>
        </p:txBody>
      </p:sp>
      <p:sp>
        <p:nvSpPr>
          <p:cNvPr id="1048627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— Audio_Sch.SchDoc</a:t>
            </a:r>
            <a:endParaRPr dirty="0" sz="1000" lang="en-US"/>
          </a:p>
        </p:txBody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57712" y="892046"/>
            <a:ext cx="7474736" cy="3868033"/>
          </a:xfrm>
          <a:prstGeom prst="rect"/>
        </p:spPr>
      </p:pic>
      <p:sp>
        <p:nvSpPr>
          <p:cNvPr id="1048640" name="Text 15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C"/>
        </a:solidFill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48812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Schematic Design</a:t>
            </a:r>
            <a:endParaRPr dirty="0" sz="2400" lang="en-US"/>
          </a:p>
        </p:txBody>
      </p:sp>
      <p:sp>
        <p:nvSpPr>
          <p:cNvPr id="1048813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— Audio_Sch.SchDoc</a:t>
            </a:r>
            <a:endParaRPr dirty="0" sz="1000" lang="en-US"/>
          </a:p>
        </p:txBody>
      </p:sp>
      <p:sp>
        <p:nvSpPr>
          <p:cNvPr id="1048826" name="Text 15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  <p:sp>
        <p:nvSpPr>
          <p:cNvPr id="1048845" name="Text 13"/>
          <p:cNvSpPr/>
          <p:nvPr/>
        </p:nvSpPr>
        <p:spPr>
          <a:xfrm>
            <a:off x="365760" y="2153926"/>
            <a:ext cx="2011680" cy="417823"/>
          </a:xfrm>
          <a:prstGeom prst="rect"/>
          <a:noFill/>
        </p:spPr>
        <p:txBody>
          <a:bodyPr anchor="ctr" rtlCol="0" wrap="square"/>
          <a:lstStyle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endParaRPr dirty="0" sz="1100" lang="en-US"/>
          </a:p>
        </p:txBody>
      </p:sp>
      <p:sp>
        <p:nvSpPr>
          <p:cNvPr id="1048851" name=""/>
          <p:cNvSpPr txBox="1"/>
          <p:nvPr/>
        </p:nvSpPr>
        <p:spPr>
          <a:xfrm>
            <a:off x="538547" y="843534"/>
            <a:ext cx="8066906" cy="3634740"/>
          </a:xfrm>
          <a:prstGeom prst="rect"/>
        </p:spPr>
        <p:txBody>
          <a:bodyPr rtlCol="0" wrap="square">
            <a:spAutoFit/>
          </a:bodyPr>
          <a:p>
            <a:pPr indent="-342900" marL="342900">
              <a:buFont typeface="Wingdings" charset="2"/>
              <a:buChar char="u"/>
            </a:pPr>
            <a:r>
              <a:rPr sz="2000" lang="en-US">
                <a:solidFill>
                  <a:srgbClr val="FFFFFF"/>
                </a:solidFill>
              </a:rPr>
              <a:t>Op-Amp Circuit</a:t>
            </a:r>
            <a:endParaRPr sz="1800" lang="en-PK">
              <a:solidFill>
                <a:srgbClr val="FFFFFF"/>
              </a:solidFill>
            </a:endParaRPr>
          </a:p>
          <a:p>
            <a:r>
              <a:rPr sz="2000" lang="en-US">
                <a:solidFill>
                  <a:srgbClr val="FFFFFF"/>
                </a:solidFill>
              </a:rPr>
              <a:t>TL072 configured as no inverting amplifier</a:t>
            </a:r>
            <a:endParaRPr sz="1800" lang="en-PK">
              <a:solidFill>
                <a:srgbClr val="FFFFFF"/>
              </a:solidFill>
            </a:endParaRPr>
          </a:p>
          <a:p>
            <a:endParaRPr sz="1800" lang="en-PK">
              <a:solidFill>
                <a:srgbClr val="FFFFFF"/>
              </a:solidFill>
            </a:endParaRPr>
          </a:p>
          <a:p>
            <a:pPr indent="-342900" marL="342900">
              <a:buFont typeface="Wingdings" charset="2"/>
              <a:buChar char="u"/>
            </a:pPr>
            <a:r>
              <a:rPr sz="2000" lang="en-US">
                <a:solidFill>
                  <a:srgbClr val="FFFFFF"/>
                </a:solidFill>
              </a:rPr>
              <a:t>Resistors</a:t>
            </a:r>
            <a:endParaRPr sz="1800" lang="en-PK">
              <a:solidFill>
                <a:srgbClr val="FFFFFF"/>
              </a:solidFill>
            </a:endParaRPr>
          </a:p>
          <a:p>
            <a:r>
              <a:rPr sz="2000" lang="en-US">
                <a:solidFill>
                  <a:srgbClr val="FFFFFF"/>
                </a:solidFill>
              </a:rPr>
              <a:t>R1, R2: 10ΚΩ</a:t>
            </a:r>
            <a:endParaRPr sz="1800" lang="en-PK">
              <a:solidFill>
                <a:srgbClr val="FFFFFF"/>
              </a:solidFill>
            </a:endParaRPr>
          </a:p>
          <a:p>
            <a:r>
              <a:rPr sz="2000" lang="en-US">
                <a:solidFill>
                  <a:srgbClr val="FFFFFF"/>
                </a:solidFill>
              </a:rPr>
              <a:t>R3: 47k feedback</a:t>
            </a:r>
            <a:endParaRPr sz="1800" lang="en-PK">
              <a:solidFill>
                <a:srgbClr val="FFFFFF"/>
              </a:solidFill>
            </a:endParaRPr>
          </a:p>
          <a:p>
            <a:endParaRPr sz="1800" lang="en-PK">
              <a:solidFill>
                <a:srgbClr val="FFFFFF"/>
              </a:solidFill>
            </a:endParaRPr>
          </a:p>
          <a:p>
            <a:pPr indent="-342900" marL="342900">
              <a:buFont typeface="Wingdings" charset="2"/>
              <a:buChar char="u"/>
            </a:pPr>
            <a:r>
              <a:rPr sz="2000" lang="en-US">
                <a:solidFill>
                  <a:srgbClr val="FFFFFF"/>
                </a:solidFill>
              </a:rPr>
              <a:t>Capacitor</a:t>
            </a:r>
            <a:endParaRPr sz="1800" lang="en-PK">
              <a:solidFill>
                <a:srgbClr val="FFFFFF"/>
              </a:solidFill>
            </a:endParaRPr>
          </a:p>
          <a:p>
            <a:r>
              <a:rPr sz="2000" lang="en-US">
                <a:solidFill>
                  <a:srgbClr val="FFFFFF"/>
                </a:solidFill>
              </a:rPr>
              <a:t>C1: 100nF decoupling capacitor</a:t>
            </a:r>
            <a:endParaRPr sz="1800" lang="en-PK">
              <a:solidFill>
                <a:srgbClr val="FFFFFF"/>
              </a:solidFill>
            </a:endParaRPr>
          </a:p>
          <a:p>
            <a:endParaRPr sz="1800" lang="en-PK">
              <a:solidFill>
                <a:srgbClr val="FFFFFF"/>
              </a:solidFill>
            </a:endParaRPr>
          </a:p>
          <a:p>
            <a:pPr indent="-342900" marL="342900">
              <a:buFont typeface="Wingdings" charset="2"/>
              <a:buChar char="u"/>
            </a:pPr>
            <a:r>
              <a:rPr sz="2000" lang="en-US">
                <a:solidFill>
                  <a:srgbClr val="FFFFFF"/>
                </a:solidFill>
              </a:rPr>
              <a:t>Connector</a:t>
            </a:r>
            <a:endParaRPr sz="1800" lang="en-PK">
              <a:solidFill>
                <a:srgbClr val="FFFFFF"/>
              </a:solidFill>
            </a:endParaRPr>
          </a:p>
          <a:p>
            <a:r>
              <a:rPr sz="2000" lang="en-US">
                <a:solidFill>
                  <a:srgbClr val="FFFFFF"/>
                </a:solidFill>
              </a:rPr>
              <a:t>J1: 4-pin audio input</a:t>
            </a:r>
            <a:endParaRPr sz="2800" lang="en-PK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C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1A3300"/>
          </a:solidFill>
          <a:ln w="12700">
            <a:solidFill>
              <a:srgbClr val="1A3300"/>
            </a:solidFill>
            <a:prstDash val="solid"/>
          </a:ln>
        </p:spPr>
      </p:sp>
      <p:sp>
        <p:nvSpPr>
          <p:cNvPr id="1048645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PCB Layout &amp; Routing</a:t>
            </a:r>
            <a:endParaRPr dirty="0" sz="2400" lang="en-US"/>
          </a:p>
        </p:txBody>
      </p:sp>
      <p:sp>
        <p:nvSpPr>
          <p:cNvPr id="1048646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— Audio_PCB.PcbDoc</a:t>
            </a:r>
            <a:endParaRPr dirty="0" sz="1000" lang="en-US"/>
          </a:p>
        </p:txBody>
      </p:sp>
      <p:pic>
        <p:nvPicPr>
          <p:cNvPr id="209715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80275" y="868679"/>
            <a:ext cx="8188254" cy="3657600"/>
          </a:xfrm>
          <a:prstGeom prst="rect"/>
        </p:spPr>
      </p:pic>
      <p:sp>
        <p:nvSpPr>
          <p:cNvPr id="1048663" name="Text 19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C"/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1A3300"/>
          </a:solidFill>
          <a:ln w="12700">
            <a:solidFill>
              <a:srgbClr val="1A3300"/>
            </a:solidFill>
            <a:prstDash val="solid"/>
          </a:ln>
        </p:spPr>
      </p:sp>
      <p:sp>
        <p:nvSpPr>
          <p:cNvPr id="1048787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PCB Layout &amp; Routing</a:t>
            </a:r>
            <a:endParaRPr dirty="0" sz="2400" lang="en-US"/>
          </a:p>
        </p:txBody>
      </p:sp>
      <p:sp>
        <p:nvSpPr>
          <p:cNvPr id="1048788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— Audio_PCB.PcbDoc</a:t>
            </a:r>
            <a:endParaRPr dirty="0" sz="1000" lang="en-US"/>
          </a:p>
        </p:txBody>
      </p:sp>
      <p:sp>
        <p:nvSpPr>
          <p:cNvPr id="1048790" name="Shape 4"/>
          <p:cNvSpPr/>
          <p:nvPr/>
        </p:nvSpPr>
        <p:spPr>
          <a:xfrm>
            <a:off x="745114" y="892961"/>
            <a:ext cx="201168" cy="201168"/>
          </a:xfrm>
          <a:prstGeom prst="ellipse"/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48792" name="Shape 8"/>
          <p:cNvSpPr/>
          <p:nvPr/>
        </p:nvSpPr>
        <p:spPr>
          <a:xfrm>
            <a:off x="745115" y="2050556"/>
            <a:ext cx="201168" cy="201168"/>
          </a:xfrm>
          <a:prstGeom prst="ellipse"/>
          <a:solidFill>
            <a:srgbClr val="4444FF"/>
          </a:solidFill>
          <a:ln w="12700">
            <a:solidFill>
              <a:srgbClr val="4444FF"/>
            </a:solidFill>
            <a:prstDash val="solid"/>
          </a:ln>
        </p:spPr>
      </p:sp>
      <p:sp>
        <p:nvSpPr>
          <p:cNvPr id="1048794" name="Shape 12"/>
          <p:cNvSpPr/>
          <p:nvPr/>
        </p:nvSpPr>
        <p:spPr>
          <a:xfrm flipH="1">
            <a:off x="745115" y="3075835"/>
            <a:ext cx="201168" cy="201168"/>
          </a:xfrm>
          <a:prstGeom prst="ellipse"/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48795" name="Shape 16"/>
          <p:cNvSpPr/>
          <p:nvPr/>
        </p:nvSpPr>
        <p:spPr>
          <a:xfrm>
            <a:off x="745114" y="4168447"/>
            <a:ext cx="201168" cy="201168"/>
          </a:xfrm>
          <a:prstGeom prst="ellipse"/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1048796" name="Text 19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88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  <p:sp>
        <p:nvSpPr>
          <p:cNvPr id="1048803" name=""/>
          <p:cNvSpPr txBox="1"/>
          <p:nvPr/>
        </p:nvSpPr>
        <p:spPr>
          <a:xfrm>
            <a:off x="1104002" y="765809"/>
            <a:ext cx="8482023" cy="4003040"/>
          </a:xfrm>
          <a:prstGeom prst="rect"/>
        </p:spPr>
        <p:txBody>
          <a:bodyPr rtlCol="0" wrap="square">
            <a:spAutoFit/>
          </a:bodyPr>
          <a:p>
            <a:r>
              <a:rPr sz="2400" lang="en-PK">
                <a:solidFill>
                  <a:srgbClr val="FFFFFF"/>
                </a:solidFill>
              </a:rPr>
              <a:t>Top Copper
Signal traces on top copper layer</a:t>
            </a:r>
            <a:endParaRPr sz="2000" lang="en-PK">
              <a:solidFill>
                <a:srgbClr val="FFFFFF"/>
              </a:solidFill>
            </a:endParaRPr>
          </a:p>
          <a:p>
            <a:r>
              <a:rPr sz="2400" lang="en-PK">
                <a:solidFill>
                  <a:srgbClr val="FFFFFF"/>
                </a:solidFill>
              </a:rPr>
              <a:t>
Bot Copper
Power traces on bottom layer</a:t>
            </a:r>
            <a:endParaRPr sz="2000" lang="en-PK">
              <a:solidFill>
                <a:srgbClr val="FFFFFF"/>
              </a:solidFill>
            </a:endParaRPr>
          </a:p>
          <a:p>
            <a:r>
              <a:rPr sz="2400" lang="en-PK">
                <a:solidFill>
                  <a:srgbClr val="FFFFFF"/>
                </a:solidFill>
              </a:rPr>
              <a:t>
Via Holes
Inter-layer connections</a:t>
            </a:r>
            <a:endParaRPr sz="2000" lang="en-PK">
              <a:solidFill>
                <a:srgbClr val="FFFFFF"/>
              </a:solidFill>
            </a:endParaRPr>
          </a:p>
          <a:p>
            <a:r>
              <a:rPr sz="2400" lang="en-PK">
                <a:solidFill>
                  <a:srgbClr val="FFFFFF"/>
                </a:solidFill>
              </a:rPr>
              <a:t>
Board Outline
65mm x 45mm FR4 board size</a:t>
            </a:r>
            <a:endParaRPr sz="2800" lang="en-PK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2C1E5C"/>
          </a:solidFill>
          <a:ln w="12700">
            <a:solidFill>
              <a:srgbClr val="2C1E5C"/>
            </a:solidFill>
            <a:prstDash val="solid"/>
          </a:ln>
        </p:spPr>
      </p:sp>
      <p:sp>
        <p:nvSpPr>
          <p:cNvPr id="1048668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3D PCB Visualization</a:t>
            </a:r>
            <a:endParaRPr dirty="0" sz="2400" lang="en-US"/>
          </a:p>
        </p:txBody>
      </p:sp>
      <p:sp>
        <p:nvSpPr>
          <p:cNvPr id="1048669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— 3D View</a:t>
            </a:r>
            <a:endParaRPr dirty="0" sz="1000" lang="en-US"/>
          </a:p>
        </p:txBody>
      </p:sp>
      <p:pic>
        <p:nvPicPr>
          <p:cNvPr id="209715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13396" y="1103010"/>
            <a:ext cx="7738109" cy="3394538"/>
          </a:xfrm>
          <a:prstGeom prst="rect"/>
        </p:spPr>
      </p:pic>
      <p:sp>
        <p:nvSpPr>
          <p:cNvPr id="1048682" name="Text 15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2C1E5C"/>
          </a:solidFill>
          <a:ln w="12700">
            <a:solidFill>
              <a:srgbClr val="2C1E5C"/>
            </a:solidFill>
            <a:prstDash val="solid"/>
          </a:ln>
        </p:spPr>
      </p:sp>
      <p:sp>
        <p:nvSpPr>
          <p:cNvPr id="1048726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3D PCB Visualization</a:t>
            </a:r>
            <a:endParaRPr dirty="0" sz="2400" lang="en-US"/>
          </a:p>
        </p:txBody>
      </p:sp>
      <p:sp>
        <p:nvSpPr>
          <p:cNvPr id="1048727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Designer — 3D View</a:t>
            </a:r>
            <a:endParaRPr dirty="0" sz="1000" lang="en-US"/>
          </a:p>
        </p:txBody>
      </p:sp>
      <p:sp>
        <p:nvSpPr>
          <p:cNvPr id="1048740" name="Text 15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BB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  <p:sp>
        <p:nvSpPr>
          <p:cNvPr id="1048749" name=""/>
          <p:cNvSpPr txBox="1"/>
          <p:nvPr/>
        </p:nvSpPr>
        <p:spPr>
          <a:xfrm rot="21600000">
            <a:off x="84341" y="973069"/>
            <a:ext cx="9256133" cy="3329940"/>
          </a:xfrm>
          <a:prstGeom prst="rect"/>
          <a:noFill/>
        </p:spPr>
        <p:txBody>
          <a:bodyPr rtlCol="0" wrap="square">
            <a:spAutoFit/>
          </a:bodyPr>
          <a:p>
            <a:pPr indent="-342900" marL="342900">
              <a:buFont typeface="Wingdings" charset="2"/>
              <a:buChar char="u"/>
            </a:pP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e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i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tor</a:t>
            </a:r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sistors visible on top layer</a:t>
            </a:r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pPr indent="-342900" marL="342900">
              <a:buFont typeface="Wingdings" charset="2"/>
              <a:buChar char="u"/>
            </a:pP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Capacitors</a:t>
            </a:r>
            <a:endParaRPr b="1"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4x electrolytic caps with leads</a:t>
            </a:r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pPr indent="-342900" marL="342900">
              <a:buFont typeface="Wingdings" charset="2"/>
              <a:buChar char="u"/>
            </a:pP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IC</a:t>
            </a:r>
            <a:r>
              <a:rPr b="0" sz="2000" lang="en-US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Package</a:t>
            </a:r>
            <a:endParaRPr b="1"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TL072 SOIC-8 SMD package</a:t>
            </a:r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endParaRPr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pPr indent="-342900" marL="342900">
              <a:buFont typeface="Wingdings" charset="2"/>
              <a:buChar char="u"/>
            </a:pP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PCB</a:t>
            </a:r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sz="2000" lang="en-US">
                <a:solidFill>
                  <a:srgbClr val="FFFFFF"/>
                </a:solidFill>
                <a:latin typeface="Calibri"/>
                <a:ea typeface="Calibri"/>
              </a:rPr>
              <a:t>Board</a:t>
            </a:r>
            <a:endParaRPr b="1" sz="1800" lang="en-PK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sz="2000" lang="en-US">
                <a:solidFill>
                  <a:srgbClr val="FFFFFF"/>
                </a:solidFill>
                <a:latin typeface="Calibri"/>
                <a:ea typeface="Calibri"/>
              </a:rPr>
              <a:t>Green FR4 substrate 3D view</a:t>
            </a:r>
            <a:endParaRPr sz="2800" lang="en-PK">
              <a:solidFill>
                <a:srgbClr val="FFFFFF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Shape 0"/>
          <p:cNvSpPr/>
          <p:nvPr/>
        </p:nvSpPr>
        <p:spPr>
          <a:xfrm>
            <a:off x="0" y="0"/>
            <a:ext cx="9144000" cy="658368"/>
          </a:xfrm>
          <a:prstGeom prst="rect"/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8687" name="Text 1"/>
          <p:cNvSpPr/>
          <p:nvPr/>
        </p:nvSpPr>
        <p:spPr>
          <a:xfrm>
            <a:off x="365760" y="73152"/>
            <a:ext cx="6400800" cy="51206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DRC Check &amp; Gerber Output</a:t>
            </a:r>
            <a:endParaRPr dirty="0" sz="2400" lang="en-US"/>
          </a:p>
        </p:txBody>
      </p:sp>
      <p:sp>
        <p:nvSpPr>
          <p:cNvPr id="1048688" name="Text 2"/>
          <p:cNvSpPr/>
          <p:nvPr/>
        </p:nvSpPr>
        <p:spPr>
          <a:xfrm>
            <a:off x="6400800" y="137160"/>
            <a:ext cx="2560320" cy="36576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b="1" dirty="0" sz="1200" lang="en-US">
                <a:solidFill>
                  <a:srgbClr val="88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Errors — Board Ready!</a:t>
            </a:r>
            <a:endParaRPr dirty="0" sz="1200" lang="en-US"/>
          </a:p>
        </p:txBody>
      </p:sp>
      <p:pic>
        <p:nvPicPr>
          <p:cNvPr id="209715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64069" y="777240"/>
            <a:ext cx="9171367" cy="4032702"/>
          </a:xfrm>
          <a:prstGeom prst="rect"/>
        </p:spPr>
      </p:pic>
      <p:sp>
        <p:nvSpPr>
          <p:cNvPr id="1048689" name="Text 3"/>
          <p:cNvSpPr/>
          <p:nvPr/>
        </p:nvSpPr>
        <p:spPr>
          <a:xfrm>
            <a:off x="0" y="4892040"/>
            <a:ext cx="9144000" cy="2468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Bushra  |  Digital Audio PCB — Altium Designer Demo  |  2026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Digital Audio PCB Design - Altium Designer</dc:title>
  <dc:creator>Bushra</dc:creator>
  <cp:lastModifiedBy>Bushra</cp:lastModifiedBy>
  <dcterms:created xsi:type="dcterms:W3CDTF">2026-06-28T21:54:53Z</dcterms:created>
  <dcterms:modified xsi:type="dcterms:W3CDTF">2026-06-29T08:48:22Z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37a3a80f70034c7ba5a46efd4ce8b0eb_23</vt:lpwstr>
  </property>
</Properties>
</file>